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801600" cy="9601200" type="A3"/>
  <p:notesSz cx="10234613" cy="1466215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AAE5"/>
    <a:srgbClr val="D45500"/>
    <a:srgbClr val="8C1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6327" autoAdjust="0"/>
  </p:normalViewPr>
  <p:slideViewPr>
    <p:cSldViewPr>
      <p:cViewPr varScale="1">
        <p:scale>
          <a:sx n="97" d="100"/>
          <a:sy n="97" d="100"/>
        </p:scale>
        <p:origin x="2160" y="224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571625"/>
            <a:ext cx="9601200" cy="33416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3488"/>
            <a:ext cx="9601200" cy="23177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DD97CD-1068-45C6-9113-B0BE99581B94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5120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F99D47-5FA5-4AB9-8887-4AF58D8CE8D5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991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125" y="2393950"/>
            <a:ext cx="11041063" cy="39941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125" y="6424613"/>
            <a:ext cx="11041063" cy="2100262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963911-552C-4073-828D-82CEA4B4B406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999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763" y="2239963"/>
            <a:ext cx="5684837" cy="633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2239963"/>
            <a:ext cx="5684838" cy="633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289832-F260-4DD9-824C-AEDDC1DE4A59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309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063" y="511175"/>
            <a:ext cx="11042650" cy="18557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063" y="2354263"/>
            <a:ext cx="5416550" cy="11525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063" y="3506788"/>
            <a:ext cx="5416550" cy="5159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175" y="2354263"/>
            <a:ext cx="5443538" cy="11525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175" y="3506788"/>
            <a:ext cx="5443538" cy="5159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77C907-2F42-47F8-A9B3-283C50579574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596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634BB9-B94D-4769-A6A0-5CED4DA4D578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885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3268A-6E84-4C1C-AE9E-B9362E91BA1F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66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063" y="639763"/>
            <a:ext cx="4129087" cy="223996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1950" y="1382713"/>
            <a:ext cx="6481763" cy="6823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063" y="2879725"/>
            <a:ext cx="4129087" cy="5337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883E8E-61CE-43B9-8F73-4AAE43C5D8EC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072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063" y="639763"/>
            <a:ext cx="4129087" cy="223996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41950" y="1382713"/>
            <a:ext cx="6481763" cy="6823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063" y="2879725"/>
            <a:ext cx="4129087" cy="5337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FC6E38-8E1D-4F4C-AFE9-988D96B79AAC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043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530489-C4A5-473B-B0EB-4E82F9367638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891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2113" y="384175"/>
            <a:ext cx="2879725" cy="8193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763" y="384175"/>
            <a:ext cx="8489950" cy="8193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75F680-8058-4625-8053-A8708865228F}" type="slidenum">
              <a:rPr lang="pt-PT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645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9763" y="384175"/>
            <a:ext cx="115220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/>
              <a:t>Clique para editar o estilo do título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763" y="2239963"/>
            <a:ext cx="11522075" cy="633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9763" y="8743950"/>
            <a:ext cx="298767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defTabSz="1279525" eaLnBrk="1" hangingPunct="1">
              <a:defRPr sz="20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3563" y="8743950"/>
            <a:ext cx="405447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ctr" defTabSz="1279525" eaLnBrk="1" hangingPunct="1">
              <a:defRPr sz="20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74163" y="8743950"/>
            <a:ext cx="298767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r" defTabSz="1279525" eaLnBrk="1" hangingPunct="1">
              <a:defRPr sz="2000"/>
            </a:lvl1pPr>
          </a:lstStyle>
          <a:p>
            <a:fld id="{51CA60E0-F2FF-449D-85DD-3A02855D33A4}" type="slidenum">
              <a:rPr lang="pt-PT"/>
              <a:pPr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79525" rtl="0" eaLnBrk="0" fontAlgn="base" hangingPunct="0">
        <a:spcBef>
          <a:spcPct val="0"/>
        </a:spcBef>
        <a:spcAft>
          <a:spcPct val="0"/>
        </a:spcAft>
        <a:defRPr sz="6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2pPr>
      <a:lvl3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3pPr>
      <a:lvl4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4pPr>
      <a:lvl5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5pPr>
      <a:lvl6pPr marL="4572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6pPr>
      <a:lvl7pPr marL="9144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7pPr>
      <a:lvl8pPr marL="13716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8pPr>
      <a:lvl9pPr marL="18288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479425" indent="-47942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39813" indent="-400050" algn="l" defTabSz="1279525" rtl="0" eaLnBrk="0" fontAlgn="base" hangingPunct="0">
        <a:spcBef>
          <a:spcPct val="20000"/>
        </a:spcBef>
        <a:spcAft>
          <a:spcPct val="0"/>
        </a:spcAft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67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39963" indent="-319088" algn="l" defTabSz="1279525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indent="-319088" algn="l" defTabSz="1279525" rtl="0" eaLnBrk="0" fontAlgn="base" hangingPunct="0">
        <a:spcBef>
          <a:spcPct val="20000"/>
        </a:spcBef>
        <a:spcAft>
          <a:spcPct val="0"/>
        </a:spcAft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 flipH="1">
            <a:off x="5680720" y="-1"/>
            <a:ext cx="7120880" cy="1136400"/>
          </a:xfrm>
          <a:prstGeom prst="rect">
            <a:avLst/>
          </a:prstGeom>
          <a:gradFill flip="none" rotWithShape="1">
            <a:gsLst>
              <a:gs pos="60000">
                <a:srgbClr val="1FAAE5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500" b="0" i="0" u="none" strike="noStrike" cap="none" normalizeH="0" baseline="0" dirty="0">
              <a:ln>
                <a:noFill/>
              </a:ln>
              <a:solidFill>
                <a:srgbClr val="1FAAE5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6692192" y="2446409"/>
            <a:ext cx="6073776" cy="1346079"/>
          </a:xfrm>
        </p:spPr>
        <p:txBody>
          <a:bodyPr/>
          <a:lstStyle/>
          <a:p>
            <a:pPr marL="0" indent="0">
              <a:buClr>
                <a:srgbClr val="D45500"/>
              </a:buClr>
              <a:buNone/>
            </a:pPr>
            <a:r>
              <a:rPr lang="pt-PT" sz="1600" i="1" dirty="0" err="1"/>
              <a:t>Object</a:t>
            </a:r>
            <a:r>
              <a:rPr lang="pt-PT" sz="1600" i="1" dirty="0"/>
              <a:t> </a:t>
            </a:r>
            <a:r>
              <a:rPr lang="pt-PT" sz="1600" i="1" dirty="0" err="1"/>
              <a:t>Detection</a:t>
            </a:r>
            <a:r>
              <a:rPr lang="pt-PT" sz="1600" i="1" dirty="0"/>
              <a:t> </a:t>
            </a:r>
            <a:r>
              <a:rPr lang="pt-PT" sz="1600" dirty="0"/>
              <a:t>é uma técnica de visão computacional que permite identificar o tipo de objeto , como “carro” ou “mota”, e a sua posição na imagem ou vídeo, através de </a:t>
            </a:r>
            <a:r>
              <a:rPr lang="pt-PT" sz="1600" i="1" dirty="0" err="1"/>
              <a:t>bounding</a:t>
            </a:r>
            <a:r>
              <a:rPr lang="pt-PT" sz="1600" dirty="0"/>
              <a:t> </a:t>
            </a:r>
            <a:r>
              <a:rPr lang="pt-PT" sz="1600" i="1" dirty="0"/>
              <a:t>boxes</a:t>
            </a:r>
            <a:r>
              <a:rPr lang="pt-PT" sz="1600" dirty="0"/>
              <a:t>. Esta é utilizada neste projeto para detetar e analisar veículos em tempo real.</a:t>
            </a:r>
            <a:endParaRPr lang="pt-PT" sz="1600" i="1" dirty="0"/>
          </a:p>
        </p:txBody>
      </p:sp>
      <p:pic>
        <p:nvPicPr>
          <p:cNvPr id="8" name="Content Placeholder 7" descr="A car driving on the road&#10;&#10;AI-generated content may be incorrect.">
            <a:extLst>
              <a:ext uri="{FF2B5EF4-FFF2-40B4-BE49-F238E27FC236}">
                <a16:creationId xmlns:a16="http://schemas.microsoft.com/office/drawing/2014/main" id="{19AFD173-DF66-88D0-2AD6-F6D4FF5B56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473" y="3853876"/>
            <a:ext cx="3909342" cy="2602908"/>
          </a:xfr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72608" cy="113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97144" y="19895"/>
            <a:ext cx="3304456" cy="922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 Escola Superior de Tecnologia e Gestão de Leir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0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 Escola Superior de Tecnologia e Gestão de Leir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5875"/>
            <a:ext cx="95250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 Escola Superior de Tecnologia e Gestão de Leir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68275"/>
            <a:ext cx="95250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9C1478EB-5696-8E6D-88BF-D99F39AA0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2" y="662548"/>
            <a:ext cx="11522075" cy="1600200"/>
          </a:xfrm>
        </p:spPr>
        <p:txBody>
          <a:bodyPr/>
          <a:lstStyle/>
          <a:p>
            <a:r>
              <a:rPr lang="pt-PT" dirty="0" err="1"/>
              <a:t>SmartTraffic</a:t>
            </a:r>
            <a:endParaRPr lang="pt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AE551-1D63-7931-3BC5-657BADA387A7}"/>
              </a:ext>
            </a:extLst>
          </p:cNvPr>
          <p:cNvSpPr txBox="1"/>
          <p:nvPr/>
        </p:nvSpPr>
        <p:spPr>
          <a:xfrm>
            <a:off x="6692192" y="1920280"/>
            <a:ext cx="3801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Clr>
                <a:srgbClr val="D45500"/>
              </a:buClr>
              <a:buNone/>
            </a:pPr>
            <a:r>
              <a:rPr lang="pt-PT" sz="2400" dirty="0"/>
              <a:t>O que é </a:t>
            </a:r>
            <a:r>
              <a:rPr lang="pt-PT" sz="2400" i="1" dirty="0" err="1"/>
              <a:t>Object</a:t>
            </a:r>
            <a:r>
              <a:rPr lang="pt-PT" sz="2400" i="1" dirty="0"/>
              <a:t> </a:t>
            </a:r>
            <a:r>
              <a:rPr lang="pt-PT" sz="2400" i="1" dirty="0" err="1"/>
              <a:t>Detection</a:t>
            </a:r>
            <a:r>
              <a:rPr lang="pt-PT" sz="2400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E8B91D-9BA3-B997-8B01-D9DBFFE94E03}"/>
              </a:ext>
            </a:extLst>
          </p:cNvPr>
          <p:cNvSpPr txBox="1"/>
          <p:nvPr/>
        </p:nvSpPr>
        <p:spPr>
          <a:xfrm>
            <a:off x="208112" y="1920280"/>
            <a:ext cx="46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D45500"/>
              </a:buClr>
            </a:pPr>
            <a:r>
              <a:rPr lang="pt-PT" sz="2400" dirty="0"/>
              <a:t>Em que consiste o </a:t>
            </a:r>
            <a:r>
              <a:rPr lang="pt-PT" sz="2400" dirty="0" err="1"/>
              <a:t>SmartTraffic</a:t>
            </a:r>
            <a:r>
              <a:rPr lang="pt-PT" sz="2400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FA458-0C97-73E7-DC60-2679A5D3986A}"/>
              </a:ext>
            </a:extLst>
          </p:cNvPr>
          <p:cNvSpPr txBox="1"/>
          <p:nvPr/>
        </p:nvSpPr>
        <p:spPr>
          <a:xfrm>
            <a:off x="208110" y="2446409"/>
            <a:ext cx="58429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+mn-lt"/>
              </a:rPr>
              <a:t>O principal objetivo deste projeto consistiu em desenvolver um </a:t>
            </a:r>
          </a:p>
          <a:p>
            <a:r>
              <a:rPr lang="pt-PT" sz="1600" dirty="0">
                <a:latin typeface="+mn-lt"/>
              </a:rPr>
              <a:t>sistema de deteção e analise de veículos em vídeo</a:t>
            </a:r>
            <a:r>
              <a:rPr lang="pt-PT" sz="1600" dirty="0"/>
              <a:t>, baseado em YOLOv8</a:t>
            </a:r>
            <a:r>
              <a:rPr lang="pt-PT" sz="1600" dirty="0">
                <a:latin typeface="+mn-lt"/>
              </a:rPr>
              <a:t>, com a finalidade de extrair estatísticas relevantes sobre o tráfego rodoviário. A informação processada é posteriormente armazenada e apresentada numa aplicação web interativa, permitindo uma visualização clara e acessível dos dados, como diversas contagens e gráficos. </a:t>
            </a:r>
            <a:endParaRPr lang="pt-PT" sz="1600" i="1" dirty="0">
              <a:latin typeface="+mn-lt"/>
            </a:endParaRP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DE1B60-2ECA-EAE8-0E42-64BAC812DF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52" y="4573956"/>
            <a:ext cx="5017655" cy="26029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F232095-F4E8-E6B1-05D2-E6707737AF19}"/>
              </a:ext>
            </a:extLst>
          </p:cNvPr>
          <p:cNvSpPr txBox="1"/>
          <p:nvPr/>
        </p:nvSpPr>
        <p:spPr>
          <a:xfrm>
            <a:off x="0" y="9055289"/>
            <a:ext cx="27158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Trabalho realizado por: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Francisco Santos Cordeiro.         2221857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Nazariy Kazaryan                        2221862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9D296-0717-C73F-2FB8-79B2E55BB3D0}"/>
              </a:ext>
            </a:extLst>
          </p:cNvPr>
          <p:cNvSpPr txBox="1"/>
          <p:nvPr/>
        </p:nvSpPr>
        <p:spPr>
          <a:xfrm>
            <a:off x="10493405" y="8901401"/>
            <a:ext cx="22878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Professores Orientadores: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Luís Filipe Jesus Correia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António Manuel de Jesus Pereira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/>
              <a:t>Carlos Fernando de Almeida Grilo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25096-71EC-B30E-44C3-9B9B057CC565}"/>
              </a:ext>
            </a:extLst>
          </p:cNvPr>
          <p:cNvSpPr txBox="1"/>
          <p:nvPr/>
        </p:nvSpPr>
        <p:spPr>
          <a:xfrm>
            <a:off x="203200" y="7450087"/>
            <a:ext cx="3801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Clr>
                <a:srgbClr val="D45500"/>
              </a:buClr>
              <a:buNone/>
            </a:pPr>
            <a:r>
              <a:rPr lang="pt-PT" sz="2400" dirty="0"/>
              <a:t>Conclusões e Contributos</a:t>
            </a:r>
          </a:p>
        </p:txBody>
      </p:sp>
      <p:sp>
        <p:nvSpPr>
          <p:cNvPr id="6" name="Marcador de Posição de Conteúdo 2">
            <a:extLst>
              <a:ext uri="{FF2B5EF4-FFF2-40B4-BE49-F238E27FC236}">
                <a16:creationId xmlns:a16="http://schemas.microsoft.com/office/drawing/2014/main" id="{1ADC1024-FDF4-9FC1-1ABB-2C6E42606DE1}"/>
              </a:ext>
            </a:extLst>
          </p:cNvPr>
          <p:cNvSpPr txBox="1">
            <a:spLocks/>
          </p:cNvSpPr>
          <p:nvPr/>
        </p:nvSpPr>
        <p:spPr bwMode="auto">
          <a:xfrm>
            <a:off x="155574" y="7901031"/>
            <a:ext cx="12293897" cy="860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marL="479425" indent="-479425" algn="l" defTabSz="12795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39813" indent="-400050" algn="l" defTabSz="12795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0200" indent="-320675" algn="l" defTabSz="12795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39963" indent="-319088" algn="l" defTabSz="12795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79725" indent="-319088" algn="l" defTabSz="12795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D45500"/>
              </a:buClr>
              <a:buFontTx/>
              <a:buNone/>
            </a:pPr>
            <a:r>
              <a:rPr lang="pt-PT" sz="1600" dirty="0"/>
              <a:t>Como previsto, a finalidade deste projeto foi alcançada pois este é capaz de detetar e analisar veículos de forma automática, extraindo dados estatísticos relevantes e apresenta-los numa interface intuitiva. O sistema revelou ser escalável e com potencial de aplicação em cenários reais de gestão e monitorização de tráfego urbano.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de apresentação predefinido">
  <a:themeElements>
    <a:clrScheme name="Modelo de apresentação predefini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elo de apresentação predefini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PT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PT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Modelo de apresentação predefini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o de apresentação predefini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o de apresentação predefini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2230</TotalTime>
  <Words>214</Words>
  <Application>Microsoft Macintosh PowerPoint</Application>
  <PresentationFormat>A3 Paper (297x420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Modelo de apresentação predefinido</vt:lpstr>
      <vt:lpstr>SmartTraffic</vt:lpstr>
    </vt:vector>
  </TitlesOfParts>
  <Company>ESTG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Proj2-RSSF-PeopleMonitor</dc:creator>
  <cp:lastModifiedBy>Nazariy Kazaryan</cp:lastModifiedBy>
  <cp:revision>47</cp:revision>
  <cp:lastPrinted>2013-09-15T00:10:08Z</cp:lastPrinted>
  <dcterms:created xsi:type="dcterms:W3CDTF">2007-02-13T18:22:14Z</dcterms:created>
  <dcterms:modified xsi:type="dcterms:W3CDTF">2025-07-12T18:48:08Z</dcterms:modified>
</cp:coreProperties>
</file>